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camino" userId="a8c60af06dbd216f" providerId="LiveId" clId="{C87887C1-75D9-4335-96DE-51DA7A3E2DAB}"/>
    <pc:docChg chg="undo custSel modSld">
      <pc:chgData name="alexander camino" userId="a8c60af06dbd216f" providerId="LiveId" clId="{C87887C1-75D9-4335-96DE-51DA7A3E2DAB}" dt="2026-04-22T01:33:36.038" v="1" actId="1076"/>
      <pc:docMkLst>
        <pc:docMk/>
      </pc:docMkLst>
      <pc:sldChg chg="modSp mod">
        <pc:chgData name="alexander camino" userId="a8c60af06dbd216f" providerId="LiveId" clId="{C87887C1-75D9-4335-96DE-51DA7A3E2DAB}" dt="2026-04-22T01:33:36.038" v="1" actId="1076"/>
        <pc:sldMkLst>
          <pc:docMk/>
          <pc:sldMk cId="0" sldId="257"/>
        </pc:sldMkLst>
        <pc:spChg chg="mod">
          <ac:chgData name="alexander camino" userId="a8c60af06dbd216f" providerId="LiveId" clId="{C87887C1-75D9-4335-96DE-51DA7A3E2DAB}" dt="2026-04-22T01:33:36.038" v="1" actId="1076"/>
          <ac:spMkLst>
            <pc:docMk/>
            <pc:sldMk cId="0" sldId="257"/>
            <ac:spMk id="3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7048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54096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81144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08192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62288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689336" y="0"/>
            <a:ext cx="6350" cy="6858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88720" y="1188720"/>
            <a:ext cx="9811512" cy="4892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1188720"/>
            <a:ext cx="9811512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53312" y="1307592"/>
            <a:ext cx="146304" cy="146304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572768" y="1307592"/>
            <a:ext cx="146304" cy="146304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92224" y="1307592"/>
            <a:ext cx="146304" cy="146304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1271016"/>
            <a:ext cx="9811512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onsolas"/>
              </a:rPr>
              <a:t>~/data_mining/final_project.py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9330" y="1779611"/>
            <a:ext cx="9811512" cy="2667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0" i="0" dirty="0">
                <a:solidFill>
                  <a:srgbClr val="3FB950"/>
                </a:solidFill>
                <a:latin typeface="Consolas"/>
              </a:rPr>
              <a:t># BSIT 3-</a:t>
            </a:r>
            <a:r>
              <a:rPr lang="en-PH" sz="1400" b="0" i="0" dirty="0">
                <a:solidFill>
                  <a:srgbClr val="3FB950"/>
                </a:solidFill>
                <a:latin typeface="Consolas"/>
              </a:rPr>
              <a:t>D</a:t>
            </a:r>
            <a:r>
              <a:rPr sz="1400" b="0" i="0" dirty="0">
                <a:solidFill>
                  <a:srgbClr val="3FB950"/>
                </a:solidFill>
                <a:latin typeface="Consolas"/>
              </a:rPr>
              <a:t>  |  ITSPEC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148840"/>
            <a:ext cx="9811512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0" i="0" dirty="0">
                <a:solidFill>
                  <a:srgbClr val="8B949E"/>
                </a:solidFill>
                <a:latin typeface="Consolas"/>
              </a:rPr>
              <a:t>from </a:t>
            </a:r>
            <a:r>
              <a:rPr sz="1300" b="0" i="0" dirty="0" err="1">
                <a:solidFill>
                  <a:srgbClr val="8B949E"/>
                </a:solidFill>
                <a:latin typeface="Consolas"/>
              </a:rPr>
              <a:t>data_mining</a:t>
            </a:r>
            <a:r>
              <a:rPr sz="1300" b="0" i="0" dirty="0">
                <a:solidFill>
                  <a:srgbClr val="8B949E"/>
                </a:solidFill>
                <a:latin typeface="Consolas"/>
              </a:rPr>
              <a:t> import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06040"/>
            <a:ext cx="9811512" cy="6858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3600" b="1" i="0">
                <a:solidFill>
                  <a:srgbClr val="E6EDF3"/>
                </a:solidFill>
              </a:rPr>
              <a:t>APPLICATION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00400"/>
            <a:ext cx="9811512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4200" b="1" i="0">
                <a:solidFill>
                  <a:srgbClr val="58A6FF"/>
                </a:solidFill>
              </a:rPr>
              <a:t>DATA MINING TECHNIQUES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2876" y="3977640"/>
            <a:ext cx="27432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751076" y="4251960"/>
            <a:ext cx="2057400" cy="411480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51076" y="4328160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876" y="4251960"/>
            <a:ext cx="2057400" cy="411480"/>
          </a:xfrm>
          <a:prstGeom prst="rect">
            <a:avLst/>
          </a:prstGeom>
          <a:solidFill>
            <a:srgbClr val="1C2128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0876" y="4328160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D29922"/>
                </a:solidFill>
                <a:latin typeface="Consolas"/>
              </a:rPr>
              <a:t>Clustering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0676" y="4251960"/>
            <a:ext cx="2057400" cy="411480"/>
          </a:xfrm>
          <a:prstGeom prst="rect">
            <a:avLst/>
          </a:prstGeom>
          <a:solidFill>
            <a:srgbClr val="1C2128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0676" y="4328160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  <a:latin typeface="Consolas"/>
              </a:rPr>
              <a:t>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0476" y="4251960"/>
            <a:ext cx="2057400" cy="411480"/>
          </a:xfrm>
          <a:prstGeom prst="rect">
            <a:avLst/>
          </a:prstGeom>
          <a:solidFill>
            <a:srgbClr val="1C2128"/>
          </a:solidFill>
          <a:ln w="15240">
            <a:solidFill>
              <a:srgbClr val="BD9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0476" y="4328160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BD93F9"/>
                </a:solidFill>
                <a:latin typeface="Consolas"/>
              </a:rPr>
              <a:t>Association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856" y="5189220"/>
            <a:ext cx="8897112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83080" y="5248656"/>
            <a:ext cx="8897112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nsolas"/>
              </a:rPr>
              <a:t># group_members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3778" y="5565795"/>
            <a:ext cx="8897112" cy="38985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r>
              <a:rPr sz="1100" b="0" i="0" dirty="0">
                <a:solidFill>
                  <a:srgbClr val="E6EDF3"/>
                </a:solidFill>
                <a:latin typeface="Consolas"/>
              </a:rPr>
              <a:t>Alimpolos, Aldrich A.      </a:t>
            </a:r>
            <a:r>
              <a:rPr sz="1100" b="0" i="0" dirty="0" err="1">
                <a:solidFill>
                  <a:srgbClr val="E6EDF3"/>
                </a:solidFill>
                <a:latin typeface="Consolas"/>
              </a:rPr>
              <a:t>Batawang</a:t>
            </a:r>
            <a:r>
              <a:rPr sz="1100" b="0" i="0" dirty="0">
                <a:solidFill>
                  <a:srgbClr val="E6EDF3"/>
                </a:solidFill>
                <a:latin typeface="Consolas"/>
              </a:rPr>
              <a:t>, Homer J.        Madrona, Cristian Li G.
</a:t>
            </a:r>
            <a:r>
              <a:rPr sz="1100" b="0" i="0" dirty="0" err="1">
                <a:solidFill>
                  <a:srgbClr val="E6EDF3"/>
                </a:solidFill>
                <a:latin typeface="Consolas"/>
              </a:rPr>
              <a:t>Labad</a:t>
            </a:r>
            <a:r>
              <a:rPr sz="1100" b="0" i="0" dirty="0">
                <a:solidFill>
                  <a:srgbClr val="E6EDF3"/>
                </a:solidFill>
                <a:latin typeface="Consolas"/>
              </a:rPr>
              <a:t>, </a:t>
            </a:r>
            <a:r>
              <a:rPr sz="1100" b="0" i="0" dirty="0" err="1">
                <a:solidFill>
                  <a:srgbClr val="E6EDF3"/>
                </a:solidFill>
                <a:latin typeface="Consolas"/>
              </a:rPr>
              <a:t>Rodsteven</a:t>
            </a:r>
            <a:r>
              <a:rPr sz="1100" b="0" i="0" dirty="0">
                <a:solidFill>
                  <a:srgbClr val="E6EDF3"/>
                </a:solidFill>
                <a:latin typeface="Consolas"/>
              </a:rPr>
              <a:t> S.        </a:t>
            </a:r>
            <a:r>
              <a:rPr sz="1100" b="0" i="0" dirty="0" err="1">
                <a:solidFill>
                  <a:srgbClr val="E6EDF3"/>
                </a:solidFill>
                <a:latin typeface="Consolas"/>
              </a:rPr>
              <a:t>Perono</a:t>
            </a:r>
            <a:r>
              <a:rPr sz="1100" b="0" i="0" dirty="0">
                <a:solidFill>
                  <a:srgbClr val="E6EDF3"/>
                </a:solidFill>
                <a:latin typeface="Consolas"/>
              </a:rPr>
              <a:t>, Jenny Mae P.      </a:t>
            </a:r>
            <a:r>
              <a:rPr sz="1100" b="0" i="0" dirty="0" err="1">
                <a:solidFill>
                  <a:srgbClr val="E6EDF3"/>
                </a:solidFill>
                <a:latin typeface="Consolas"/>
              </a:rPr>
              <a:t>Sulana</a:t>
            </a:r>
            <a:r>
              <a:rPr sz="1100" b="0" i="0" dirty="0">
                <a:solidFill>
                  <a:srgbClr val="E6EDF3"/>
                </a:solidFill>
                <a:latin typeface="Consolas"/>
              </a:rPr>
              <a:t>, Pearl Paulene 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898898"/>
            <a:ext cx="9811512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0" i="1" dirty="0">
                <a:solidFill>
                  <a:srgbClr val="8B949E"/>
                </a:solidFill>
                <a:latin typeface="Consolas"/>
              </a:rPr>
              <a:t>Instructor: Ian Val Delos Reyes   |   April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Introduction &amp;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overview and specific goals of this study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691640"/>
            <a:ext cx="548640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onsolas"/>
              </a:rPr>
              <a:t>core_challenge.md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03911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Educational institutions generate large volumes of student data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but struggle to extract predictive, actionable academic insights.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91640"/>
            <a:ext cx="548640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9360" y="1764792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nsolas"/>
              </a:rPr>
              <a:t>general_objective.md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03911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Apply four data mining techniques to uncover patterns,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predict outcomes, and support data-driven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46120"/>
            <a:ext cx="9144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// core_techniques &amp; specific_objectives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57600"/>
            <a:ext cx="54864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3657600"/>
            <a:ext cx="109728" cy="1280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8952" y="3950208"/>
            <a:ext cx="685800" cy="685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059936"/>
            <a:ext cx="6858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  <a:latin typeface="Consola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822192"/>
            <a:ext cx="42976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60520"/>
            <a:ext cx="42976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Consolas"/>
              </a:rPr>
              <a:t>Gaussian Naive Bayes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443984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Predicting student pass/fail outcomes early.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657600"/>
            <a:ext cx="54864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3657600"/>
            <a:ext cx="109728" cy="128016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73952" y="3950208"/>
            <a:ext cx="685800" cy="68580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059936"/>
            <a:ext cx="6858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  <a:latin typeface="Consola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22192"/>
            <a:ext cx="42976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Clustering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160520"/>
            <a:ext cx="42976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D29922"/>
                </a:solidFill>
                <a:latin typeface="Consolas"/>
              </a:rPr>
              <a:t>Hierarchical (Ward)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443984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Grouping students by behavioral engagement tier.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02352"/>
            <a:ext cx="54864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5102352"/>
            <a:ext cx="109728" cy="12801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58952" y="5394960"/>
            <a:ext cx="685800" cy="6858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5504688"/>
            <a:ext cx="6858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  <a:latin typeface="Consolas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266944"/>
            <a:ext cx="42976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Regression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605272"/>
            <a:ext cx="42976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Consolas"/>
              </a:rPr>
              <a:t>Polynomial (Degree 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5888736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Modeling study hours vs. final grade.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102352"/>
            <a:ext cx="548640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5102352"/>
            <a:ext cx="109728" cy="1280160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473952" y="5394960"/>
            <a:ext cx="685800" cy="685800"/>
          </a:xfrm>
          <a:prstGeom prst="ellipse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73952" y="5504688"/>
            <a:ext cx="6858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  <a:latin typeface="Consolas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266944"/>
            <a:ext cx="42976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Association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605272"/>
            <a:ext cx="42976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BD93F9"/>
                </a:solidFill>
                <a:latin typeface="Consolas"/>
              </a:rPr>
              <a:t>Apriori Algorithm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888736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Discovering item co-purchase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Dataset 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four datasets loaded from local CSV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45920"/>
            <a:ext cx="9144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import pandas as pd   # 4 files loaded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11680"/>
            <a:ext cx="64008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120" y="2062480"/>
            <a:ext cx="5384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#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2011680"/>
            <a:ext cx="16459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19200" y="2062480"/>
            <a:ext cx="1544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DOMAIN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011680"/>
            <a:ext cx="320040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65120" y="2062480"/>
            <a:ext cx="309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011680"/>
            <a:ext cx="329184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65520" y="2062480"/>
            <a:ext cx="3190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ALGORITHM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2011680"/>
            <a:ext cx="242316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57360" y="2062480"/>
            <a:ext cx="2321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514600"/>
            <a:ext cx="64008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9120" y="2565400"/>
            <a:ext cx="5384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2514600"/>
            <a:ext cx="1645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19200" y="2565400"/>
            <a:ext cx="1544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Education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2514600"/>
            <a:ext cx="320040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65120" y="2565400"/>
            <a:ext cx="309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student_performance.csv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514600"/>
            <a:ext cx="32918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65520" y="2565400"/>
            <a:ext cx="3190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Gaussian Naive Bayes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514600"/>
            <a:ext cx="2423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57360" y="2565400"/>
            <a:ext cx="2321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200 students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017520"/>
            <a:ext cx="64008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9120" y="3068320"/>
            <a:ext cx="5384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3017520"/>
            <a:ext cx="164592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9200" y="3068320"/>
            <a:ext cx="1544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Education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3017520"/>
            <a:ext cx="320040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65120" y="3068320"/>
            <a:ext cx="309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student_behavior.csv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3017520"/>
            <a:ext cx="329184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65520" y="3068320"/>
            <a:ext cx="3190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Hierarchical Clustering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3017520"/>
            <a:ext cx="242316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57360" y="3068320"/>
            <a:ext cx="2321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200 students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520440"/>
            <a:ext cx="64008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9120" y="3571240"/>
            <a:ext cx="5384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3520440"/>
            <a:ext cx="1645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19200" y="3571240"/>
            <a:ext cx="1544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Education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20" y="3520440"/>
            <a:ext cx="320040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65120" y="3571240"/>
            <a:ext cx="309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student_grades.csv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520440"/>
            <a:ext cx="32918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65520" y="3571240"/>
            <a:ext cx="3190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Polynomial Regression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3520440"/>
            <a:ext cx="2423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57360" y="3571240"/>
            <a:ext cx="2321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150 students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023360"/>
            <a:ext cx="64008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9120" y="4074160"/>
            <a:ext cx="5384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43000" y="4023360"/>
            <a:ext cx="164592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19200" y="4074160"/>
            <a:ext cx="1544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Commerce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4023360"/>
            <a:ext cx="320040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65120" y="4074160"/>
            <a:ext cx="309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transactions.csv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4023360"/>
            <a:ext cx="329184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65520" y="4074160"/>
            <a:ext cx="3190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Apriori Algorithm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81160" y="4023360"/>
            <a:ext cx="2423160" cy="50292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57360" y="4074160"/>
            <a:ext cx="2321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300 transactions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4937760"/>
            <a:ext cx="9144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// dataset_summary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257800"/>
            <a:ext cx="265176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2920" y="5257800"/>
            <a:ext cx="128016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4088" y="5330952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Consolas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" y="5824728"/>
            <a:ext cx="23774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CSV Files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5257800"/>
            <a:ext cx="265176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337560" y="5257800"/>
            <a:ext cx="128016" cy="914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38728" y="5330952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3FB950"/>
                </a:solidFill>
                <a:latin typeface="Consolas"/>
              </a:rPr>
              <a:t>850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38728" y="5824728"/>
            <a:ext cx="23774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Total Records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5257800"/>
            <a:ext cx="265176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172200" y="5257800"/>
            <a:ext cx="128016" cy="9144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73368" y="5330952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D29922"/>
                </a:solidFill>
                <a:latin typeface="Consolas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73368" y="5824728"/>
            <a:ext cx="23774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Supervised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06840" y="5257800"/>
            <a:ext cx="265176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BD9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006840" y="5257800"/>
            <a:ext cx="128016" cy="914400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208008" y="5330952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BD93F9"/>
                </a:solidFill>
                <a:latin typeface="Consolas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08008" y="5824728"/>
            <a:ext cx="23774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Unsupervised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Methodology &amp;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Problem 1 - Education (Classification)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502920"/>
            <a:ext cx="1737360" cy="384048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539496"/>
            <a:ext cx="17373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Consolas"/>
              </a:rPr>
              <a:t>P1 - NAIVE BAYES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onsolas"/>
              </a:rPr>
              <a:t>problem.txt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 dirty="0">
                <a:solidFill>
                  <a:srgbClr val="E6EDF3"/>
                </a:solidFill>
              </a:rPr>
              <a:t>Teachers cannot early-identify at-risk students without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 dirty="0">
                <a:solidFill>
                  <a:srgbClr val="E6EDF3"/>
                </a:solidFill>
              </a:rPr>
              <a:t>a predictive tool. Intervention often happens too late.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1764792"/>
            <a:ext cx="128016" cy="1280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Consolas"/>
              </a:rPr>
              <a:t>methods.py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 dirty="0">
                <a:solidFill>
                  <a:srgbClr val="39C5CF"/>
                </a:solidFill>
              </a:rPr>
              <a:t>X = [</a:t>
            </a:r>
            <a:r>
              <a:rPr sz="1100" b="0" dirty="0" err="1">
                <a:solidFill>
                  <a:srgbClr val="39C5CF"/>
                </a:solidFill>
              </a:rPr>
              <a:t>Study_Hours</a:t>
            </a:r>
            <a:r>
              <a:rPr sz="1100" b="0" dirty="0">
                <a:solidFill>
                  <a:srgbClr val="39C5CF"/>
                </a:solidFill>
              </a:rPr>
              <a:t>, Attendance, </a:t>
            </a:r>
            <a:r>
              <a:rPr sz="1100" b="0" dirty="0" err="1">
                <a:solidFill>
                  <a:srgbClr val="39C5CF"/>
                </a:solidFill>
              </a:rPr>
              <a:t>Quiz_Score</a:t>
            </a:r>
            <a:r>
              <a:rPr sz="1100" b="0" dirty="0">
                <a:solidFill>
                  <a:srgbClr val="39C5CF"/>
                </a:solidFill>
              </a:rPr>
              <a:t>]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 dirty="0" err="1">
                <a:solidFill>
                  <a:srgbClr val="3FB950"/>
                </a:solidFill>
              </a:rPr>
              <a:t>GaussianNB</a:t>
            </a:r>
            <a:r>
              <a:rPr sz="1100" b="0" dirty="0">
                <a:solidFill>
                  <a:srgbClr val="3FB950"/>
                </a:solidFill>
              </a:rPr>
              <a:t>().fit(</a:t>
            </a:r>
            <a:r>
              <a:rPr sz="1100" b="0" dirty="0" err="1">
                <a:solidFill>
                  <a:srgbClr val="3FB950"/>
                </a:solidFill>
              </a:rPr>
              <a:t>X_train</a:t>
            </a:r>
            <a:r>
              <a:rPr sz="1100" b="0" dirty="0">
                <a:solidFill>
                  <a:srgbClr val="3FB950"/>
                </a:solidFill>
              </a:rPr>
              <a:t>, </a:t>
            </a:r>
            <a:r>
              <a:rPr sz="1100" b="0" dirty="0" err="1">
                <a:solidFill>
                  <a:srgbClr val="3FB950"/>
                </a:solidFill>
              </a:rPr>
              <a:t>y_train</a:t>
            </a:r>
            <a:r>
              <a:rPr sz="1100" b="0" dirty="0">
                <a:solidFill>
                  <a:srgbClr val="3FB950"/>
                </a:solidFill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17520"/>
            <a:ext cx="5486400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4360" y="3090672"/>
            <a:ext cx="128016" cy="1280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04495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Consolas"/>
              </a:rPr>
              <a:t>confusion_matrix.png</a:t>
            </a:r>
          </a:p>
        </p:txBody>
      </p:sp>
      <p:pic>
        <p:nvPicPr>
          <p:cNvPr id="34" name="Picture 33" descr="p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337560"/>
            <a:ext cx="5340096" cy="2514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217920" y="3017520"/>
            <a:ext cx="5486400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5486400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09360" y="3090672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4495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nsolas"/>
              </a:rPr>
              <a:t>metrics_report.png</a:t>
            </a:r>
          </a:p>
        </p:txBody>
      </p:sp>
      <p:pic>
        <p:nvPicPr>
          <p:cNvPr id="39" name="Picture 38" descr="p1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337560"/>
            <a:ext cx="5340096" cy="25146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02920" y="6035040"/>
            <a:ext cx="112014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613562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&gt;&gt;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6135624"/>
            <a:ext cx="94183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82.50% Accuracy | 100% Recall - no passing student was ever missed (0 FN).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D29922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Methodology &amp;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Problem 2 - Education (Clustering)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502920"/>
            <a:ext cx="1737360" cy="384048"/>
          </a:xfrm>
          <a:prstGeom prst="rect">
            <a:avLst/>
          </a:prstGeom>
          <a:solidFill>
            <a:srgbClr val="1C2128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539496"/>
            <a:ext cx="17373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D29922"/>
                </a:solidFill>
                <a:latin typeface="Consolas"/>
              </a:rPr>
              <a:t>P2 - CLUSTERING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onsolas"/>
              </a:rPr>
              <a:t>problem.txt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Student behavioral data is unlabeled - no pre-existing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groupings or engagement tiers exist.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1764792"/>
            <a:ext cx="128016" cy="128016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D29922"/>
                </a:solidFill>
                <a:latin typeface="Consolas"/>
              </a:rPr>
              <a:t>methods.py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39C5CF"/>
                </a:solidFill>
              </a:rPr>
              <a:t>Z = linkage(X_scaled, method='ward')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3FB950"/>
                </a:solidFill>
              </a:rPr>
              <a:t>labels = fcluster(Z, t=3, criterion='maxclust')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17520"/>
            <a:ext cx="6675120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6675120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4360" y="3090672"/>
            <a:ext cx="128016" cy="128016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044952"/>
            <a:ext cx="630936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D29922"/>
                </a:solidFill>
                <a:latin typeface="Consolas"/>
              </a:rPr>
              <a:t>dendrogram.png</a:t>
            </a:r>
          </a:p>
        </p:txBody>
      </p:sp>
      <p:pic>
        <p:nvPicPr>
          <p:cNvPr id="34" name="Picture 33" descr="p2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337560"/>
            <a:ext cx="6528816" cy="2514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360920" y="3017520"/>
            <a:ext cx="4343400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60920" y="3017520"/>
            <a:ext cx="4343400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452360" y="3090672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3044952"/>
            <a:ext cx="3977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nsolas"/>
              </a:rPr>
              <a:t>cluster_scatter.png</a:t>
            </a:r>
          </a:p>
        </p:txBody>
      </p:sp>
      <p:pic>
        <p:nvPicPr>
          <p:cNvPr id="39" name="Picture 38" descr="p2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337560"/>
            <a:ext cx="4197096" cy="25146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02920" y="6035040"/>
            <a:ext cx="112014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613562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&gt;&gt;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6135624"/>
            <a:ext cx="94183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3 natural behavioral tiers: Active (45) | Average (75) | At Risk (80).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Methodology &amp;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Problem 3 - Education (Regression)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502920"/>
            <a:ext cx="1737360" cy="384048"/>
          </a:xfrm>
          <a:prstGeom prst="rect">
            <a:avLst/>
          </a:prstGeom>
          <a:solidFill>
            <a:srgbClr val="1C2128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539496"/>
            <a:ext cx="17373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  <a:latin typeface="Consolas"/>
              </a:rPr>
              <a:t>P3 -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onsolas"/>
              </a:rPr>
              <a:t>problem.txt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Grade vs. study hours is non-linear - students hit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diminishing returns past a certain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91640"/>
            <a:ext cx="548640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1764792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719072"/>
            <a:ext cx="502920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nsolas"/>
              </a:rPr>
              <a:t>fitted_equation.py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103120"/>
            <a:ext cx="54864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onsolas"/>
              </a:rPr>
              <a:t>Grade = 73.98 + 2.89h - 0.1546h^2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51460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onsolas"/>
              </a:rPr>
              <a:t>R^2 = 0.4125   |   RMSE = 2.91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6675120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3017520"/>
            <a:ext cx="6675120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4360" y="3090672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3044952"/>
            <a:ext cx="630936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nsolas"/>
              </a:rPr>
              <a:t>polynomial_fit.png</a:t>
            </a:r>
          </a:p>
        </p:txBody>
      </p:sp>
      <p:pic>
        <p:nvPicPr>
          <p:cNvPr id="35" name="Picture 34" descr="p3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337560"/>
            <a:ext cx="6528816" cy="25146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7360920" y="3017520"/>
            <a:ext cx="4343400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3017520"/>
            <a:ext cx="4343400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52360" y="3090672"/>
            <a:ext cx="128016" cy="128016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3044952"/>
            <a:ext cx="3977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D29922"/>
                </a:solidFill>
                <a:latin typeface="Consolas"/>
              </a:rPr>
              <a:t>actual_vs_predicted.png</a:t>
            </a:r>
          </a:p>
        </p:txBody>
      </p:sp>
      <p:pic>
        <p:nvPicPr>
          <p:cNvPr id="40" name="Picture 39" descr="p3_actual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337560"/>
            <a:ext cx="4197096" cy="25146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02920" y="6035040"/>
            <a:ext cx="112014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613562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&gt;&gt; 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6135624"/>
            <a:ext cx="94183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41.25% of grade variance explained | RMSE = 2.91 pts | peak at ~9.35 hrs/week.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BD93F9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Methodology &amp;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Problem 4 - Commerce (Association Rule Mining)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502920"/>
            <a:ext cx="1737360" cy="384048"/>
          </a:xfrm>
          <a:prstGeom prst="rect">
            <a:avLst/>
          </a:prstGeom>
          <a:solidFill>
            <a:srgbClr val="1C2128"/>
          </a:solidFill>
          <a:ln w="15240">
            <a:solidFill>
              <a:srgbClr val="BD9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539496"/>
            <a:ext cx="17373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BD93F9"/>
                </a:solidFill>
                <a:latin typeface="Consolas"/>
              </a:rPr>
              <a:t>P4 - APRIORI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  <a:latin typeface="Consolas"/>
              </a:rPr>
              <a:t>problem.txt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Campus bookstore has no data-driven strategy for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product bundling or shelf placement.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91640"/>
            <a:ext cx="54864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1764792"/>
            <a:ext cx="128016" cy="128016"/>
          </a:xfrm>
          <a:prstGeom prst="ellipse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719072"/>
            <a:ext cx="5120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BD93F9"/>
                </a:solidFill>
                <a:latin typeface="Consolas"/>
              </a:rPr>
              <a:t>methods.py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0391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3FB950"/>
                </a:solidFill>
              </a:rPr>
              <a:t>freq = apriori(df, min_support=0.10)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39C5CF"/>
                </a:solidFill>
              </a:rPr>
              <a:t>rules = association_rules(freq, min_threshold=0.50)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17520"/>
            <a:ext cx="7498079" cy="2880360"/>
          </a:xfrm>
          <a:prstGeom prst="rect">
            <a:avLst/>
          </a:prstGeom>
          <a:solidFill>
            <a:srgbClr val="161B22"/>
          </a:solidFill>
          <a:ln w="15240">
            <a:solidFill>
              <a:srgbClr val="BD9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7498079" cy="274320"/>
          </a:xfrm>
          <a:prstGeom prst="rect">
            <a:avLst/>
          </a:prstGeom>
          <a:solidFill>
            <a:srgbClr val="1C2128"/>
          </a:solidFill>
          <a:ln w="15240">
            <a:solidFill>
              <a:srgbClr val="BD9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4360" y="3090672"/>
            <a:ext cx="128016" cy="128016"/>
          </a:xfrm>
          <a:prstGeom prst="ellipse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044952"/>
            <a:ext cx="7132319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BD93F9"/>
                </a:solidFill>
                <a:latin typeface="Consolas"/>
              </a:rPr>
              <a:t>top_10_rules_by_lift.png</a:t>
            </a:r>
          </a:p>
        </p:txBody>
      </p:sp>
      <p:pic>
        <p:nvPicPr>
          <p:cNvPr id="34" name="Picture 33" descr="p4_top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337560"/>
            <a:ext cx="7351775" cy="2514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138160" y="3017520"/>
            <a:ext cx="35661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BD9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3017520"/>
            <a:ext cx="128016" cy="640080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8" y="3090672"/>
            <a:ext cx="32918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BD93F9"/>
                </a:solidFill>
                <a:latin typeface="Consolas"/>
              </a:rPr>
              <a:t>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3310128"/>
            <a:ext cx="32918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Rules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749040"/>
            <a:ext cx="35661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38160" y="3749040"/>
            <a:ext cx="128016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39328" y="3822192"/>
            <a:ext cx="32918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Consolas"/>
              </a:rPr>
              <a:t>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4041648"/>
            <a:ext cx="32918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Itemsets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480560"/>
            <a:ext cx="35661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38160" y="4480560"/>
            <a:ext cx="128016" cy="6400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39328" y="4553712"/>
            <a:ext cx="32918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D29922"/>
                </a:solidFill>
                <a:latin typeface="Consolas"/>
              </a:rPr>
              <a:t>3.75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4773168"/>
            <a:ext cx="32918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Max Lift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5212080"/>
            <a:ext cx="35661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38160" y="5212080"/>
            <a:ext cx="128016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39328" y="5285232"/>
            <a:ext cx="32918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 i="0">
                <a:solidFill>
                  <a:srgbClr val="3FB950"/>
                </a:solidFill>
                <a:latin typeface="Consolas"/>
              </a:rPr>
              <a:t>0.97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5504688"/>
            <a:ext cx="3291840" cy="30175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Max Conf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35040"/>
            <a:ext cx="112014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613562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Consolas"/>
              </a:rPr>
              <a:t>&gt;&gt; 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6135624"/>
            <a:ext cx="94183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USB_Drive &lt;-&gt; Calculator strongest pair (Lift = 3.75). 37 rules extracted.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39C5CF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Integration of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cross-technique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1640"/>
            <a:ext cx="9144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// comparative_summary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11680"/>
            <a:ext cx="228600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120" y="2062480"/>
            <a:ext cx="21844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  <a:latin typeface="Consolas"/>
              </a:rPr>
              <a:t>PROBLEM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011680"/>
            <a:ext cx="320040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5120" y="2062480"/>
            <a:ext cx="30988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  <a:latin typeface="Consolas"/>
              </a:rPr>
              <a:t>TECHNIQUE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011680"/>
            <a:ext cx="201168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65520" y="2062480"/>
            <a:ext cx="19100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  <a:latin typeface="Consolas"/>
              </a:rPr>
              <a:t>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011680"/>
            <a:ext cx="37033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77200" y="2062480"/>
            <a:ext cx="360172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  <a:latin typeface="Consolas"/>
              </a:rPr>
              <a:t>KEY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487168"/>
            <a:ext cx="2286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9120" y="2537968"/>
            <a:ext cx="21844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P1 - Pass/Fail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487168"/>
            <a:ext cx="32004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65120" y="2537968"/>
            <a:ext cx="30988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Gaussian Naive Bayes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487168"/>
            <a:ext cx="201168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65520" y="2537968"/>
            <a:ext cx="19100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Supervised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487168"/>
            <a:ext cx="370332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77200" y="2537968"/>
            <a:ext cx="360172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Accuracy 82.50% | Recall 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962656"/>
            <a:ext cx="228600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9120" y="3013456"/>
            <a:ext cx="21844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P2 - Behavior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2962656"/>
            <a:ext cx="320040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65120" y="3013456"/>
            <a:ext cx="30988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Hierarchical Clustering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962656"/>
            <a:ext cx="201168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65520" y="3013456"/>
            <a:ext cx="19100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Unsupervised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962656"/>
            <a:ext cx="370332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77200" y="3013456"/>
            <a:ext cx="360172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3 clusters - Active / Average / At Risk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438144"/>
            <a:ext cx="2286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9120" y="3488944"/>
            <a:ext cx="21844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P3 - Grade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3438144"/>
            <a:ext cx="32004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65120" y="3488944"/>
            <a:ext cx="30988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Polynomial Regression (d=2)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438144"/>
            <a:ext cx="201168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65520" y="3488944"/>
            <a:ext cx="19100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Supervised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3438144"/>
            <a:ext cx="370332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77200" y="3488944"/>
            <a:ext cx="360172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R^2 = 0.4125 | RMSE = 2.91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913632"/>
            <a:ext cx="228600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9120" y="3964432"/>
            <a:ext cx="21844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P4 - Purchases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20" y="3913632"/>
            <a:ext cx="320040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65120" y="3964432"/>
            <a:ext cx="309880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Apriori Algorithm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913632"/>
            <a:ext cx="201168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65520" y="3964432"/>
            <a:ext cx="19100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Unsupervised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1000" y="3913632"/>
            <a:ext cx="3703320" cy="4754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77200" y="3964432"/>
            <a:ext cx="360172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nsolas"/>
              </a:rPr>
              <a:t>37 rules | Max Lift = 3.75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389120"/>
            <a:ext cx="1120140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2920" y="4389120"/>
            <a:ext cx="11201400" cy="27432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94360" y="4462272"/>
            <a:ext cx="128016" cy="128016"/>
          </a:xfrm>
          <a:prstGeom prst="ellipse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" y="4416552"/>
            <a:ext cx="108356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39C5CF"/>
                </a:solidFill>
                <a:latin typeface="Consolas"/>
              </a:rPr>
              <a:t>insights.md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4736592"/>
            <a:ext cx="10927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&gt; P1 -&gt; P2 -&gt; P3 form a pipeline: identify failing students -&gt; profile them -&gt; prescribe study hours.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&gt; P4 applies the same analytical logic to a business domain (campus bookstore).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&gt; Supervised models (P1, P3) use labeled data with measurable prediction accuracy.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6EDF3"/>
                </a:solidFill>
              </a:rPr>
              <a:t>&gt; Unsupervised models (P2, P4) reveal natural structures without labels or train-test split.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summary of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1640"/>
            <a:ext cx="9144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// findings.log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11680"/>
            <a:ext cx="1120140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011680"/>
            <a:ext cx="137160" cy="7498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212848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nsolas"/>
              </a:rPr>
              <a:t>[OK]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103120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Naive Bayes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39572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82.50% accuracy | 100% recall | proven early warning tool.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80360"/>
            <a:ext cx="1120140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2880360"/>
            <a:ext cx="137160" cy="7498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081528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  <a:latin typeface="Consolas"/>
              </a:rPr>
              <a:t>[OK]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2971800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Hierarchical 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2644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3 behavioral tiers discovered from unlabeled student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49040"/>
            <a:ext cx="1120140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3749040"/>
            <a:ext cx="137160" cy="7498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950208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onsolas"/>
              </a:rPr>
              <a:t>[OK]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840480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Polynomial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3308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41.25% of grade variance explained | RMSE = 2.91 pts.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17720"/>
            <a:ext cx="1120140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617720"/>
            <a:ext cx="137160" cy="749808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818888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BD93F9"/>
                </a:solidFill>
                <a:latin typeface="Consolas"/>
              </a:rPr>
              <a:t>[OK]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709160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Apriori Algorithm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00176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37 rules uncovered | USB Drive &lt;-&gt; Calculator at Lift 3.75.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69280"/>
            <a:ext cx="1120140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806440"/>
            <a:ext cx="112014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1">
                <a:solidFill>
                  <a:srgbClr val="3FB950"/>
                </a:solidFill>
              </a:rPr>
              <a:t>"Raw data contains latent, predictable structures - the right algorithm surfaces them."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D29922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Recommendations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actionable next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83080"/>
            <a:ext cx="1120140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137160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2002536"/>
            <a:ext cx="475488" cy="47548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039112"/>
            <a:ext cx="475488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onsola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192024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Early Warning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28600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Deploy Naive Bayes for real-time academic alerts at term start.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34640"/>
            <a:ext cx="1120140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2834640"/>
            <a:ext cx="137160" cy="9144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60" y="3054096"/>
            <a:ext cx="475488" cy="475488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090672"/>
            <a:ext cx="475488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onsola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7180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D29922"/>
                </a:solidFill>
              </a:rPr>
              <a:t>Targeted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3756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Use cluster profiles to design tier-specific academic programs.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86200"/>
            <a:ext cx="1120140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886200"/>
            <a:ext cx="137160" cy="914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960" y="4105656"/>
            <a:ext cx="475488" cy="475488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142232"/>
            <a:ext cx="475488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02336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Study Plan 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38912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Share the regression curve - peak benefit around 9 hrs/week.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937760"/>
            <a:ext cx="1120140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4937760"/>
            <a:ext cx="137160" cy="914400"/>
          </a:xfrm>
          <a:prstGeom prst="rect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22960" y="5157216"/>
            <a:ext cx="475488" cy="475488"/>
          </a:xfrm>
          <a:prstGeom prst="ellipse">
            <a:avLst/>
          </a:prstGeom>
          <a:solidFill>
            <a:srgbClr val="BD9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193792"/>
            <a:ext cx="475488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onsola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07492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BD93F9"/>
                </a:solidFill>
              </a:rPr>
              <a:t>Campus Store Optimization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44068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Bundle USB + Calculator; place Pens near Textbook displays.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F85149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Limitations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known constraints &amp; caveats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83080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109728" cy="6583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194767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  <a:latin typeface="Consolas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965960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Synthetic datasets (150-300 records) - less noisy than real institutional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87752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587752"/>
            <a:ext cx="109728" cy="6583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275234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  <a:latin typeface="Consola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770632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Naive Bayes assumes feature independence - likely violated in reality.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392424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3392424"/>
            <a:ext cx="109728" cy="6583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5701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  <a:latin typeface="Consolas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575304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Polynomial Regression uses 1 predictor - 59% of grade variance unexplained.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97096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197096"/>
            <a:ext cx="109728" cy="6583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36168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  <a:latin typeface="Consolas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379976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Apriori results depend on min_support threshold - chosen by judgment.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001768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001768"/>
            <a:ext cx="109728" cy="6583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  <a:latin typeface="Consolas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184648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Cluster labels based on a weighted formula - introduces subjectivity.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1C2128"/>
          </a:solidFill>
          <a:ln w="1524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6108192"/>
            <a:ext cx="109728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1">
                <a:solidFill>
                  <a:srgbClr val="F85149"/>
                </a:solidFill>
                <a:latin typeface="Consolas"/>
              </a:rPr>
              <a:t>// NOTE: metrics should be interpreted with these constraints in mind.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Future 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roadmap for extension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83080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1280160" cy="658368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965960"/>
            <a:ext cx="12801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965960"/>
            <a:ext cx="9601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Replace synthetic data with real university and bookstore records.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87752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587752"/>
            <a:ext cx="1280160" cy="658368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770632"/>
            <a:ext cx="12801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v2.1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770632"/>
            <a:ext cx="9601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Benchmark Naive Bayes vs. Decision Tree vs. SVM for classification.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392424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3392424"/>
            <a:ext cx="1280160" cy="658368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575304"/>
            <a:ext cx="12801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v2.2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575304"/>
            <a:ext cx="9601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Compare K-Means vs. DBSCAN against Hierarchical Clustering.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97096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197096"/>
            <a:ext cx="1280160" cy="658368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379976"/>
            <a:ext cx="12801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v2.3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379976"/>
            <a:ext cx="9601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Expand P3 to multi-feature regression (add Attendance + Quiz_Score).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001768"/>
            <a:ext cx="112014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001768"/>
            <a:ext cx="1280160" cy="658368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184648"/>
            <a:ext cx="12801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v2.4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184648"/>
            <a:ext cx="9601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Integrate all 4 models into a live student performance web dashboard.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6108192"/>
            <a:ext cx="109728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1">
                <a:solidFill>
                  <a:srgbClr val="58A6FF"/>
                </a:solidFill>
                <a:latin typeface="Consolas"/>
              </a:rPr>
              <a:t>&gt;&gt; GOAL: Deploy these models as real-time, continuously learning institutional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" y="91440"/>
            <a:ext cx="137160" cy="13716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7472" y="91440"/>
            <a:ext cx="137160" cy="137160"/>
          </a:xfrm>
          <a:prstGeom prst="ellipse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0352" y="91440"/>
            <a:ext cx="137160" cy="1371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73152"/>
            <a:ext cx="2286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  <a:latin typeface="Consolas"/>
              </a:rPr>
              <a:t>data_mining.ipynb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  <a:latin typeface="Consolas"/>
              </a:rPr>
              <a:t>*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620256"/>
            <a:ext cx="457200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900" b="0" i="0" dirty="0">
                <a:solidFill>
                  <a:srgbClr val="8B949E"/>
                </a:solidFill>
                <a:latin typeface="Consolas"/>
              </a:rPr>
              <a:t>BSIT 3-</a:t>
            </a:r>
            <a:r>
              <a:rPr lang="en-PH" sz="900" b="0" i="0" dirty="0">
                <a:solidFill>
                  <a:srgbClr val="8B949E"/>
                </a:solidFill>
                <a:latin typeface="Consolas"/>
              </a:rPr>
              <a:t>D</a:t>
            </a:r>
            <a:r>
              <a:rPr sz="900" b="0" i="0" dirty="0">
                <a:solidFill>
                  <a:srgbClr val="8B949E"/>
                </a:solidFill>
                <a:latin typeface="Consolas"/>
              </a:rPr>
              <a:t>  |  Data Mining  |  April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20040"/>
            <a:ext cx="164592" cy="62636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"/>
            <a:ext cx="36576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8B949E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"/>
            <a:ext cx="8988552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051560"/>
            <a:ext cx="3200400" cy="254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115568"/>
            <a:ext cx="8988552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// sources &amp; citations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83080"/>
            <a:ext cx="112014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193852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[01]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1938528"/>
            <a:ext cx="101498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I. H. Witten et al., Data Mining: Practical Machine Learning Tools and Techniques, 4th ed., Morgan Kaufmann, 2016.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68880"/>
            <a:ext cx="112014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62432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[02]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624328"/>
            <a:ext cx="101498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A. Geron, Hands-On Machine Learning with Scikit-Learn, Keras, and TensorFlow, 2nd ed., O'Reilly Media, 2019.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54680"/>
            <a:ext cx="112014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31012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[03]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10128"/>
            <a:ext cx="101498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C. M. Bishop, Pattern Recognition and Machine Learning, Springer, 2016.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40480"/>
            <a:ext cx="112014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99592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[04]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995928"/>
            <a:ext cx="101498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K. P. Murphy, Machine Learning: A Probabilistic Perspective, MIT Press, 2022.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526280"/>
            <a:ext cx="112014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68172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[05]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681728"/>
            <a:ext cx="101498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R. Agrawal &amp; R. Srikant, Fast Algorithms for Mining Association Rules, VLDB Conf., pp. 487-499, 1994.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2014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36752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[06]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367528"/>
            <a:ext cx="101498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S. Raschka &amp; V. Mirjalili, Python Machine Learning, 3rd ed., Packt Publishing,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1500</Words>
  <Application>Microsoft Office PowerPoint</Application>
  <PresentationFormat>Custom</PresentationFormat>
  <Paragraphs>279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Aldrich</dc:creator>
  <cp:keywords/>
  <dc:description>generated using python-pptx</dc:description>
  <cp:lastModifiedBy>alexander camino</cp:lastModifiedBy>
  <cp:revision>2</cp:revision>
  <dcterms:created xsi:type="dcterms:W3CDTF">2013-01-27T09:14:16Z</dcterms:created>
  <dcterms:modified xsi:type="dcterms:W3CDTF">2026-04-22T01:39:38Z</dcterms:modified>
  <cp:category/>
</cp:coreProperties>
</file>